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15E5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Station Manager</c:v>
                </c:pt>
                <c:pt idx="1">
                  <c:v>Technical Support</c:v>
                </c:pt>
                <c:pt idx="2">
                  <c:v>Marketing</c:v>
                </c:pt>
                <c:pt idx="3">
                  <c:v>Accounting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solidFill>
            <a:srgbClr val="115E5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914400"/>
            <a:ext cx="4206240" cy="420624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234440"/>
            <a:ext cx="2286000" cy="22860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8288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ข้อเสนอเพื่อพิจารณา · CEO &amp; MD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โครงสร้างทีม Operation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และแผน Performance Incentive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สถานีอัดประจุยานยนต์ไฟฟ้า (EV Charging Station)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สถานีต้นแบบ: Meta Mall (6 ช่องจอด)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อ้างอิง: Project Cashflow Analysis · ค่ามาตรฐานอุตสาหกรรม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05672" y="6309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TCE Project Co., Ltd.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01 · เป้าหมายของทีม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เป้าหมายของทีม Operation (ต่อสถานี)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105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46304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เป้าหมายหลัก (North Star) 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เร่งการคืนทุนของสถานี และสร้างกำไรที่ยั่งยืน โดยดันรายได้ให้ ‘เกินแผน’ พร้อมคุมต้นทุน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96112" y="3017520"/>
            <a:ext cx="713232" cy="713232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19125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ดันรายได้ &amp; Utilization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68680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เพิ่มจำนวนการชาร์จ/วัน ให้สูงกว่าเป้าหมายตามแผน forecast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493008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749040" y="3017520"/>
            <a:ext cx="713232" cy="713232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31912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21608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รักษา Uptime ≥ 97%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21608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ความเสถียรของระบบ = รายได้ที่ไม่รั่วไหล ลดเวลาเครื่องล่ม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45936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01968" y="3017520"/>
            <a:ext cx="713232" cy="713232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319125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74536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ประสบการณ์ลูกค้า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74536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ช่วยเหลือหน้างานรวดเร็ว แก้ปัญหาทันที สร้างลูกค้าประจำ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198864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454896" y="3017520"/>
            <a:ext cx="713232" cy="713232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3191256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427464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คุมต้นทุน &amp; Margin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427464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บริหารค่าใช้จ่ายให้ไม่กระทบกำไรและระยะเวลาคืนทุน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02 · ฟังก์ชันการทำงาน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ฟังก์ชันการทำงานหลักของสถานี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งานของสถานีแบ่งออกเป็น 4 สายงานหลัก ที่ต้องทำงานประสานกัน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874520"/>
            <a:ext cx="91440" cy="1783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2258568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5054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148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Operations &amp; Reliability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057400" y="26243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เดินระบบให้พร้อมใช้งาน ดูแลอัปไทม์ บำรุงรักษาเชิงป้องกัน ตรวจสอบเครื่องชาร์จและความปลอดภัย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874520"/>
            <a:ext cx="91440" cy="1783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1"/>
          <p:cNvSpPr/>
          <p:nvPr/>
        </p:nvSpPr>
        <p:spPr>
          <a:xfrm>
            <a:off x="6675120" y="2258568"/>
            <a:ext cx="868680" cy="8686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5054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0" y="2148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Experience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772400" y="26243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ดูแลลูกค้าหน้างาน แก้ปัญหาการชาร์จเฉพาะหน้า ให้คำแนะนำการใช้งานแอป/การชำระเงิน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913632"/>
            <a:ext cx="91440" cy="1783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297680"/>
            <a:ext cx="868680" cy="8686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5445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41879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Growth &amp; Marketing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2057400" y="4663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ทำโปรโมชัน ดึง utilization สร้างพันธมิตรกับห้าง/แอป สื่อสารการรับรู้ในพื้นที่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355080" y="391363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55080" y="3913632"/>
            <a:ext cx="91440" cy="1783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1"/>
          <p:cNvSpPr/>
          <p:nvPr/>
        </p:nvSpPr>
        <p:spPr>
          <a:xfrm>
            <a:off x="6675120" y="4297680"/>
            <a:ext cx="868680" cy="8686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54456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0" y="41879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Finance &amp; Reporting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7772400" y="4663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กระทบยอดรายได้ ตั้งเบิก OT/incentive รายงานผลการดำเนินงาน ตรวจสอบกับ OneCharge/ห้าง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03 · องค์ประกอบทีม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ทีมประกอบด้วยฟังก์ชันใดบ้าง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5900" y="1892808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12140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77240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 Senior / Manager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2960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เจ้าของผลงานรวมของสถานี ดูแลภาพรวมและการตัดสินใจ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02152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7972" y="1892808"/>
            <a:ext cx="1005840" cy="10058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121408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639312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 Junior Engineer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685032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งานเทคนิคหน้างาน ดูแลอัปไทม์และการบำรุงรักษา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64224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0044" y="1892808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644" y="2121408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01384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01384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47104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 utilization ผ่านโปรโมชันและพันธมิตร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226296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72116" y="1892808"/>
            <a:ext cx="1005840" cy="10058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2121408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63456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363456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409176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 รายงานการเงิน และการตั้งเบิก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46177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32688" y="49834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51389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783080" y="4754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สถานะปัจจุบัน (เฟส 1)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783080" y="504748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ยังไม่ตั้งตำแหน่งเฉพาะ — ดึงคนจากฟังก์ชันหลักมาช่วย และใช้ engineer คุมหน้างานไปก่อน (ทำหน้าที่ Station Manager + Technical Support รวมกัน) → อนาคต (เฟส 2) จึงตั้งตำแหน่งเฉพาะ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 · ใครทำอะไร (1/2)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บทบาทและหน้าที่ของแต่ละฟังก์ชัน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4068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54480"/>
            <a:ext cx="544068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 Senior / Manager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รับผิดชอบผลงานรวม (รายได้ · uptime · ความพอใจลูกค้า) ของสถานี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วางแผนเวร/กำลังคน และประสานงานข้ามฟังก์ชัน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ตัดสินใจหน้างานและจัดการเหตุ escalation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 KPI และรายงานผลต่อผู้บริหาร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ดูแลความปลอดภัยและมาตรฐานการให้บริการ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44068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554480"/>
            <a:ext cx="5440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223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 Junior Engineer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675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ดูแลเครื่องชาร์จให้พร้อมใช้งาน รักษา Uptime ≥ 97%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บำรุงรักษาเชิงป้องกันและตรวจสอบประจำวัน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แก้ไขปัญหาทางเทคนิคเฉพาะหน้าและประสานทีมซ่อม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ช่วยเหลือลูกค้าด้านการใช้งานเครื่องหน้างาน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บันทึกเวลาประจำการผ่านระบบ Human Soft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 · ใครทำอะไร (2/2)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บทบาทและหน้าที่ของแต่ละฟังก์ชัน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4068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54480"/>
            <a:ext cx="544068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ออกแบบโปรโมชันเพื่อดึง utilization โดยเฉพาะนอกชั่วโมงเร่งด่วน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สร้างพันธมิตรกับห้าง แอปชาร์จ และร้านค้าใกล้เคียง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สื่อสารการรับรู้และกิจกรรมในพื้นที่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ติดตามพฤติกรรมผู้ใช้และเสนอแนวทางเพิ่มยอด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วัดผลแคมเปญเทียบกับรายได้ที่เพิ่มขึ้น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440680" cy="4434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554480"/>
            <a:ext cx="5440680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223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675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กระทบยอดรายได้รายวัน/รายเดือนของสถานี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คำนวณและตั้งเบิกค่า OT และ Performance Incentive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ตรวจสอบส่วนแบ่งกับ OneCharge และค่าเช่าพื้นที่ห้าง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จัดทำรายงานการเงินและต้นทุนต่อผู้บริหาร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ตรวจสอบความถูกต้องผ่านระบบ Human Soft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05 · แผนการจัดทีม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จากใช้คนร่วม สู่ทีมเฉพาะ (Phasing)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เฟส 1 — ปัจจุบัน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22585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ดึงจากฟังก์ชันหลัก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0175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engineer คุมหน้างาน (SM + Technical รวมกัน)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Marketing / Accounting จากทีมส่วนกลาง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ไม่เพิ่มหัวพนักงานประจำสถานี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ต้นทุนเงินเดือนเพิ่ม ≈ 0 → ดีต่อการคืนทุน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เฟส 2 — อนาคต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22585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ตั้งตำแหน่งเฉพาะ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12280" y="30175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จ้าง Station Manager (Senior) ประจำ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จ้าง Technical Support (Junior Engineer) ประจำ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Marketing / Accounting ยังใช้ร่วมได้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ขยายเมื่อมีหลายสถานีและ volume เพิ่ม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1868" y="3456432"/>
            <a:ext cx="585216" cy="585216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35935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5120640" cy="5120640"/>
          </a:xfrm>
          <a:prstGeom prst="ellipse">
            <a:avLst/>
          </a:prstGeom>
          <a:solidFill>
            <a:srgbClr val="115E5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06 · TEAM PERFORMANCE INCENTIVE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แนวคิดและค่ามาตรฐานอ้างอิง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7490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945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~15%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ของเงินเดือน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ค่ามาตรฐานสัดส่วน variable pay สำหรับงานสาย Operations (โบนัสผันแปร 15% / ฐาน 85%)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933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9222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จ่ายเฉพาะเมื่อทำ ‘เกินแผน’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532120" y="2157984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incentive มาจากรายได้ส่วนที่เกินเป้า → ปกป้องระยะเวลาคืนทุน 100%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2889504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0540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28529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 Quality Gate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32120" y="3218688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ปลดล็อกเมื่อ uptime ≥ 97% และไม่มีข้อร้องเรียนค้าง — คุณภาพมาก่อนปริมาณ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950208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91363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มีเพดานต่อคน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5532120" y="4279392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กันการทบกันเมื่อทีมดูแลหลายสถานี (เพดาน ~15–20% ของเงินเดือนปี)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54880" y="5010912"/>
            <a:ext cx="603504" cy="60350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517550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32120" y="497433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แบ่งตามน้ำหนักงาน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5532120" y="534009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สัดส่วนตามความรับผิดชอบและส่วนร่วมจริงของแต่ละฟังก์ชัน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07 · กลไกการจ่าย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ส่วนแบ่งขั้นบันได ที่ไม่กระทบการคืนทุน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4160520"/>
            <a:ext cx="178308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03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ตามแผน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(Most Likely)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24328" y="3383280"/>
            <a:ext cx="1783080" cy="16916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24328" y="2926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+3%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578608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เกินแผน → Best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17136" y="2606040"/>
            <a:ext cx="1783080" cy="24688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17136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+5%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71416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เกิน Best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" y="5074920"/>
            <a:ext cx="5806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รายได้ของสถานี →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จ่าย % ของ ‘ส่วนที่เกินแผน’ เท่านั้น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1463040"/>
            <a:ext cx="4617720" cy="2057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42048" y="1783080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767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01000" y="1755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ผลกระทบต่อการคืนทุน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955280" y="21214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เดือน</a:t>
            </a:r>
            <a:endParaRPr lang="en-US" sz="4600" dirty="0"/>
          </a:p>
        </p:txBody>
      </p:sp>
      <p:sp>
        <p:nvSpPr>
          <p:cNvPr id="23" name="Text 19"/>
          <p:cNvSpPr/>
          <p:nvPr/>
        </p:nvSpPr>
        <p:spPr>
          <a:xfrm>
            <a:off x="7315200" y="29077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เมื่อทำได้ตามแผน incentive = 0 → payback ≈ 2.6 ปี คงเดิม ไม่ขยับ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949440" y="374904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38953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62672" y="37124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เกินแผนเมื่อไหร่ ทีมจึงได้ส่วนแบ่ง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662672" y="404164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เงินสดที่เข้าเพิ่มมากกว่า incentive ที่จ่ายเสมอ → คืนทุนเร็วกว่าหรือเท่าแผน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949440" y="4773168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491947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62672" y="4736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ต่อสถานีจ่ายบางมาก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62672" y="506577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ที่ระดับ Best จ่ายเพียง ~1% ของรายได้ / ~2% ของกำไรดำเนินงานต่อสถานี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08 · การแบ่งสัดส่วน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แบ่ง Incentive ตามน้ำหนักส่วนร่วมในงาน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33172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ตามเฟส 2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33172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น้ำหนัก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43600" y="1920240"/>
            <a:ext cx="548640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0" y="1920240"/>
            <a:ext cx="109728" cy="8412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7"/>
          <p:cNvSpPr/>
          <p:nvPr/>
        </p:nvSpPr>
        <p:spPr>
          <a:xfrm>
            <a:off x="6236208" y="2157984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8"/>
          <p:cNvSpPr/>
          <p:nvPr/>
        </p:nvSpPr>
        <p:spPr>
          <a:xfrm>
            <a:off x="676656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6656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รับผิดชอบผลงานรวมและการตัดสินใจ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0848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35%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943600" y="2871216"/>
            <a:ext cx="548640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0" y="2871216"/>
            <a:ext cx="109728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3"/>
          <p:cNvSpPr/>
          <p:nvPr/>
        </p:nvSpPr>
        <p:spPr>
          <a:xfrm>
            <a:off x="6236208" y="31089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29809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0" y="3328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อัปไทม์คือหัวใจของรายได้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358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943600" y="3822192"/>
            <a:ext cx="548640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0" y="3822192"/>
            <a:ext cx="109728" cy="841248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3" name="Shape 19"/>
          <p:cNvSpPr/>
          <p:nvPr/>
        </p:nvSpPr>
        <p:spPr>
          <a:xfrm>
            <a:off x="6236208" y="4059936"/>
            <a:ext cx="365760" cy="36576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66560" y="4279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ตัวขับ utilization เหนือ baseline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0241280" y="398678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15E5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25%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943600" y="4773168"/>
            <a:ext cx="548640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43600" y="4773168"/>
            <a:ext cx="109728" cy="8412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Shape 25"/>
          <p:cNvSpPr/>
          <p:nvPr/>
        </p:nvSpPr>
        <p:spPr>
          <a:xfrm>
            <a:off x="6236208" y="5010912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" name="Text 26"/>
          <p:cNvSpPr/>
          <p:nvPr/>
        </p:nvSpPr>
        <p:spPr>
          <a:xfrm>
            <a:off x="6766560" y="48828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766560" y="5230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สนับสนุน กระทบยอด และรายงาน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241280" y="4937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15%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5943600" y="57698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เฟส 1: ก้อนของ Station Manager + Technical (60%) แบ่งตามจำนวนวันที่ engineer ประจำจริง ผ่านระบบ Human Soft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115E5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สรุปและขั้นตอนถัดไป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ASK · สิ่งที่ขออนุมัติจากผู้บริหาร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อนุมัติโครงสร้างทีม Operation ต่อสถานี (4 ฟังก์ชัน) และแนวทาง Phasing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61488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26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61488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อนุมัติกรอบ Performance Incentive ที่ ~15% ของเงินเดือน โดยจ่ายจากรายได้ส่วนเกินแผน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602736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673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602736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 Quality Gate และเพดานต่อคน เพื่อคุมต้นทุนและการคืนทุน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4443984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0857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443984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อนุมัติการแบ่งสัดส่วนตามน้ำหนักงาน (SM 35 / Tech 25 / Mkt 25 / Acct 15)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544068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/>
        </p:spPr>
      </p:sp>
      <p:sp>
        <p:nvSpPr>
          <p:cNvPr id="18" name="Text 12"/>
          <p:cNvSpPr/>
          <p:nvPr/>
        </p:nvSpPr>
        <p:spPr>
          <a:xfrm>
            <a:off x="1005840" y="54406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ขั้นตอนถัดไป: ยืนยันจำนวน engineer หมุนเวร + เงินเดือนจริง → ล็อกตัวเลขในโมเดล Excel → นำร่องที่ Meta Mall → ทบทวน baseline ทุกปี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Station Operations &amp; Incentive</dc:title>
  <dc:subject>PptxGenJS Presentation</dc:subject>
  <dc:creator>TCE Project</dc:creator>
  <cp:lastModifiedBy>TCE Project</cp:lastModifiedBy>
  <cp:revision>1</cp:revision>
  <dcterms:created xsi:type="dcterms:W3CDTF">2026-05-30T03:03:04Z</dcterms:created>
  <dcterms:modified xsi:type="dcterms:W3CDTF">2026-05-30T03:03:04Z</dcterms:modified>
</cp:coreProperties>
</file>