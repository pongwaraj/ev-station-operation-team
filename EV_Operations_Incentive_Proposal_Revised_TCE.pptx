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FE-4154-BE09-2D8E7A480D00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FE-4154-BE09-2D8E7A480D00}"/>
              </c:ext>
            </c:extLst>
          </c:dPt>
          <c:dPt>
            <c:idx val="2"/>
            <c:bubble3D val="0"/>
            <c:spPr>
              <a:solidFill>
                <a:srgbClr val="115E5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7FE-4154-BE09-2D8E7A480D00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A7FE-4154-BE09-2D8E7A480D00}"/>
              </c:ext>
            </c:extLst>
          </c:dPt>
          <c:cat>
            <c:strRef>
              <c:f>Sheet1!$A$2:$A$5</c:f>
              <c:strCache>
                <c:ptCount val="4"/>
                <c:pt idx="0">
                  <c:v>Station Manager</c:v>
                </c:pt>
                <c:pt idx="1">
                  <c:v>Technical Support</c:v>
                </c:pt>
                <c:pt idx="2">
                  <c:v>Marketing</c:v>
                </c:pt>
                <c:pt idx="3">
                  <c:v>Accounting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7FE-4154-BE09-2D8E7A480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19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669280" cy="5669280"/>
          </a:xfrm>
          <a:prstGeom prst="ellipse">
            <a:avLst/>
          </a:prstGeom>
          <a:solidFill>
            <a:srgbClr val="12007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914400"/>
            <a:ext cx="4206240" cy="4206240"/>
          </a:xfrm>
          <a:prstGeom prst="ellipse">
            <a:avLst/>
          </a:prstGeom>
          <a:solidFill>
            <a:srgbClr val="1B0AA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1234440"/>
            <a:ext cx="2286000" cy="228600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8288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511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ข้อเสนอเพื่อพิจารณา · CEO &amp; MD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โครงสร้างทีม Operation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และแผน Performance Incentive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C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สถานีอัดประจุยานยนต์ไฟฟ้า (EV Charging Station)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31750">
            <a:solidFill>
              <a:srgbClr val="F4511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4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สถานีต้นแบบ: Meta Mall (6 ช่องจอด)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4A8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อ้างอิง: Project Cashflow Analysis · ค่ามาตรฐานอุตสาหกรรม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05672" y="6309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TCE Project Co., Ltd.</a:t>
            </a:r>
            <a:endParaRPr lang="en-US" sz="1100" dirty="0"/>
          </a:p>
        </p:txBody>
      </p:sp>
      <p:pic>
        <p:nvPicPr>
          <p:cNvPr id="12" name="TCE logo"/>
          <p:cNvPicPr/>
          <p:nvPr/>
        </p:nvPicPr>
        <p:blipFill>
          <a:blip r:embed="rId4"/>
          <a:stretch>
            <a:fillRect/>
          </a:stretch>
        </p:blipFill>
        <p:spPr>
          <a:xfrm>
            <a:off x="8458200" y="320040"/>
            <a:ext cx="1920240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01 · เป้าหมายของทีม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เป้าหมายของทีม Operation (ต่อสถานี)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16005F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673352"/>
            <a:ext cx="548640" cy="548640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105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46304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4511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เป้าหมายหลัก (North Star)   </a:t>
            </a:r>
            <a:r>
              <a:rPr lang="en-US" sz="14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เร่งการคืนทุนของสถานี และสร้างกำไรที่ยั่งยืน โดยดันรายได้ให้ ‘เกินแผน’ พร้อมคุมต้นทุน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96112" y="3017520"/>
            <a:ext cx="713232" cy="713232"/>
          </a:xfrm>
          <a:prstGeom prst="ellipse">
            <a:avLst/>
          </a:prstGeom>
          <a:solidFill>
            <a:srgbClr val="E9EC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19125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ดันรายได้ &amp; Utilization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68680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เพิ่มจำนวนการชาร์จ/วัน ให้สูงกว่าเป้าหมายตามแผน forecast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493008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749040" y="3017520"/>
            <a:ext cx="713232" cy="713232"/>
          </a:xfrm>
          <a:prstGeom prst="ellipse">
            <a:avLst/>
          </a:prstGeom>
          <a:solidFill>
            <a:srgbClr val="E9EC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776" y="31912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21608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รักษา Uptime ≥ 97%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721608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ความเสถียรของระบบ = รายได้ที่ไม่รั่วไหล ลดเวลาเครื่องล่ม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45936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601968" y="3017520"/>
            <a:ext cx="713232" cy="713232"/>
          </a:xfrm>
          <a:prstGeom prst="ellipse">
            <a:avLst/>
          </a:prstGeom>
          <a:solidFill>
            <a:srgbClr val="E9EC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704" y="319125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74536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ประสบการณ์ลูกค้า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574536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ช่วยเหลือหน้างานรวดเร็ว แก้ปัญหาทันที สร้างลูกค้าประจำ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198864" y="2743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454896" y="3017520"/>
            <a:ext cx="713232" cy="713232"/>
          </a:xfrm>
          <a:prstGeom prst="ellipse">
            <a:avLst/>
          </a:prstGeom>
          <a:solidFill>
            <a:srgbClr val="E9ECFF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8632" y="3191256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427464" y="38862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คุมต้นทุน &amp; Margin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427464" y="437083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บริหารค่าใช้จ่ายให้ไม่กระทบกำไรและระยะเวลาคืนทุน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02</a:t>
            </a:r>
            <a:endParaRPr lang="en-US" sz="1000" dirty="0"/>
          </a:p>
        </p:txBody>
      </p:sp>
      <p:pic>
        <p:nvPicPr>
          <p:cNvPr id="31" name="TCE logo"/>
          <p:cNvPicPr/>
          <p:nvPr/>
        </p:nvPicPr>
        <p:blipFill>
          <a:blip r:embed="rId9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02 · ฟังก์ชันการทำงาน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ฟังก์ชันการทำงานหลักของสถานี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งานของสถานีแบ่งออกเป็น 4 สายงานหลัก ที่ต้องทำงานประสานกัน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874520"/>
            <a:ext cx="91440" cy="17830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2258568"/>
            <a:ext cx="868680" cy="86868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25054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148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Operations &amp; Reliability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057400" y="26243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เดินระบบให้พร้อมใช้งาน ดูแลอัปไทม์ บำรุงรักษาเชิงป้องกัน ตรวจสอบเครื่องชาร์จและความปลอดภัย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55080" y="187452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874520"/>
            <a:ext cx="91440" cy="17830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15" name="Shape 11"/>
          <p:cNvSpPr/>
          <p:nvPr/>
        </p:nvSpPr>
        <p:spPr>
          <a:xfrm>
            <a:off x="6675120" y="2258568"/>
            <a:ext cx="868680" cy="86868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250545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0" y="2148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Experience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772400" y="26243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ดูแลลูกค้าหน้างาน แก้ปัญหาการชาร์จเฉพาะหน้า ให้คำแนะนำการใช้งานแอป/การชำระเงิน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1363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913632"/>
            <a:ext cx="91440" cy="17830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4297680"/>
            <a:ext cx="868680" cy="86868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54456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57400" y="41879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Growth &amp; Marketing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2057400" y="4663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ทำโปรโมชัน ดึง utilization สร้างพันธมิตรกับห้าง/แอป สื่อสารการรับรู้ในพื้นที่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355080" y="391363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55080" y="3913632"/>
            <a:ext cx="91440" cy="17830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27" name="Shape 21"/>
          <p:cNvSpPr/>
          <p:nvPr/>
        </p:nvSpPr>
        <p:spPr>
          <a:xfrm>
            <a:off x="6675120" y="4297680"/>
            <a:ext cx="868680" cy="86868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008" y="454456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0" y="41879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Finance &amp; Reporting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7772400" y="466344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กระทบยอดรายได้ ตั้งเบิก OT/incentive รายงานผลการดำเนินงาน ตรวจสอบกับ OneCharge/ห้าง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03</a:t>
            </a:r>
            <a:endParaRPr lang="en-US" sz="1000" dirty="0"/>
          </a:p>
        </p:txBody>
      </p:sp>
      <p:pic>
        <p:nvPicPr>
          <p:cNvPr id="32" name="TCE logo"/>
          <p:cNvPicPr/>
          <p:nvPr/>
        </p:nvPicPr>
        <p:blipFill>
          <a:blip r:embed="rId8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03 · องค์ประกอบทีม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ทีมประกอบด้วยฟังก์ชันใดบ้าง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5900" y="1892808"/>
            <a:ext cx="1005840" cy="100584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121408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Station Manager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77240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 Senior / Manager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22960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เจ้าของผลงานรวมของสถานี ดูแลภาพรวมและการตัดสินใจ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02152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7972" y="1892808"/>
            <a:ext cx="1005840" cy="100584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572" y="2121408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9312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Support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3639312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ระดับ Junior Engineer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685032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งานเทคนิคหน้างาน ดูแลอัปไทม์และการบำรุงรักษา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64224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0044" y="1892808"/>
            <a:ext cx="1005840" cy="100584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8644" y="2121408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01384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01384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547104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 utilization ผ่านโปรโมชันและพันธมิตร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226296" y="16002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72116" y="1892808"/>
            <a:ext cx="1005840" cy="100584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716" y="2121408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63456" y="30175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Accounting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363456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409176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 รายงานการเงิน และการตั้งเบิก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" y="461772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0E8"/>
          </a:solidFill>
          <a:ln w="12700">
            <a:solidFill>
              <a:srgbClr val="F4511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32688" y="4983480"/>
            <a:ext cx="640080" cy="640080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" y="513892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783080" y="4754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สถานะปัจจุบัน (เฟส 1)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783080" y="504748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ยังไม่ตั้งตำแหน่งเฉพาะ — ดึงคนจากฟังก์ชันหลักมาช่วย และใช้ engineer คุมหน้างานไปก่อน (ทำหน้าที่ Station Manager + Technical Support รวมกัน) → อนาคต (เฟส 2) จึงตั้งตำแหน่งเฉพาะ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04</a:t>
            </a:r>
            <a:endParaRPr lang="en-US" sz="1000" dirty="0"/>
          </a:p>
        </p:txBody>
      </p:sp>
      <p:pic>
        <p:nvPicPr>
          <p:cNvPr id="36" name="TCE logo"/>
          <p:cNvPicPr/>
          <p:nvPr/>
        </p:nvPicPr>
        <p:blipFill>
          <a:blip r:embed="rId9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04 · ใครทำอะไร (1/2)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บทบาทและหน้าที่ของแต่ละฟังก์ชัน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40680" cy="4434840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54480"/>
            <a:ext cx="5440680" cy="8686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8653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Station Manager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1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 Senior / Manager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60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รับผิดชอบผลงานรวม (รายได้ · uptime · ความพอใจลูกค้า) ของสถานี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วางแผนเวร/กำลังคน และประสานงานข้ามฟังก์ชัน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ตัดสินใจหน้างานและจัดการเหตุ escalation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 KPI และรายงานผลต่อผู้บริหาร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ดูแลความปลอดภัยและมาตรฐานการให้บริการ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55080" y="1554480"/>
            <a:ext cx="5440680" cy="4434840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554480"/>
            <a:ext cx="5440680" cy="8686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9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Support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223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1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ระดับ Junior Engineer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675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ดูแลเครื่องชาร์จให้พร้อมใช้งาน รักษา Uptime ≥ 97%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บำรุงรักษาเชิงป้องกันและตรวจสอบประจำวัน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แก้ไขปัญหาทางเทคนิคเฉพาะหน้าและประสานทีมซ่อม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ช่วยเหลือลูกค้าด้านการใช้งานเครื่องหน้างาน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บันทึกเวลาประจำการผ่านระบบ Human Soft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05</a:t>
            </a:r>
            <a:endParaRPr lang="en-US" sz="1000" dirty="0"/>
          </a:p>
        </p:txBody>
      </p:sp>
      <p:pic>
        <p:nvPicPr>
          <p:cNvPr id="21" name="TCE logo"/>
          <p:cNvPicPr/>
          <p:nvPr/>
        </p:nvPicPr>
        <p:blipFill>
          <a:blip r:embed="rId6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04 · ใครทำอะไร (2/2)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บทบาทและหน้าที่ของแต่ละฟังก์ชัน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40680" cy="4434840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554480"/>
            <a:ext cx="5440680" cy="8686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8653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Marketing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1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60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ออกแบบโปรโมชันเพื่อดึง utilization โดยเฉพาะนอกชั่วโมงเร่งด่วน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สร้างพันธมิตรกับห้าง แอปชาร์จ และร้านค้าใกล้เคียง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สื่อสารการรับรู้และกิจกรรมในพื้นที่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ติดตามพฤติกรรมผู้ใช้และเสนอแนวทางเพิ่มยอด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วัดผลแคมเปญเทียบกับรายได้ที่เพิ่มขึ้น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55080" y="1554480"/>
            <a:ext cx="5440680" cy="4434840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554480"/>
            <a:ext cx="5440680" cy="868680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9400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17007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Accounting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223760" y="202996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1F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ฟังก์ชันสนับสนุน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675120" y="2606040"/>
            <a:ext cx="4800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กระทบยอดรายได้รายวัน/รายเดือนของสถานี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คำนวณและตั้งเบิกค่า OT และ Performance Incentive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ตรวจสอบส่วนแบ่งกับ OneCharge และค่าเช่าพื้นที่ห้าง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จัดทำรายงานการเงินและต้นทุนต่อผู้บริหาร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ตรวจสอบความถูกต้องผ่านระบบ Human Soft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06</a:t>
            </a:r>
            <a:endParaRPr lang="en-US" sz="1000" dirty="0"/>
          </a:p>
        </p:txBody>
      </p:sp>
      <p:pic>
        <p:nvPicPr>
          <p:cNvPr id="21" name="TCE logo"/>
          <p:cNvPicPr/>
          <p:nvPr/>
        </p:nvPicPr>
        <p:blipFill>
          <a:blip r:embed="rId6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05 · แผนการจัดทีม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จากใช้คนร่วม สู่ทีมเฉพาะ (Phasing)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4297680"/>
          </a:xfrm>
          <a:prstGeom prst="roundRect">
            <a:avLst>
              <a:gd name="adj" fmla="val 1915"/>
            </a:avLst>
          </a:prstGeom>
          <a:solidFill>
            <a:srgbClr val="E9ECFF"/>
          </a:solidFill>
          <a:ln w="15240">
            <a:solidFill>
              <a:srgbClr val="1B0AAE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1920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เฟส 1 — ปัจจุบัน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22585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ดึงจากฟังก์ชันหลัก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30175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engineer คุมหน้างาน (SM + Technical รวมกัน)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Marketing / Accounting จากทีมส่วนกลาง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ไม่เพิ่มหัวพนักงานประจำสถานี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ต้นทุนเงินเดือนเพิ่ม ≈ 0 → ดีต่อการคืนทุน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257800" cy="4297680"/>
          </a:xfrm>
          <a:prstGeom prst="roundRect">
            <a:avLst>
              <a:gd name="adj" fmla="val 1915"/>
            </a:avLst>
          </a:prstGeom>
          <a:solidFill>
            <a:srgbClr val="FFF0E8"/>
          </a:solidFill>
          <a:ln w="15240">
            <a:solidFill>
              <a:srgbClr val="1B0AAE"/>
            </a:solidFill>
            <a:prstDash val="solid"/>
          </a:ln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1920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เฟส 2 — อนาคต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66560" y="22585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ตั้งตำแหน่งเฉพาะ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12280" y="30175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จ้าง Station Manager (Senior) ประจำ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จ้าง Technical Support (Junior Engineer) ประจำ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Marketing / Accounting ยังใช้ร่วมได้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54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ขยายเมื่อมีหลายสถานีและ volume เพิ่ม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1868" y="3456432"/>
            <a:ext cx="585216" cy="585216"/>
          </a:xfrm>
          <a:prstGeom prst="ellipse">
            <a:avLst/>
          </a:prstGeom>
          <a:solidFill>
            <a:srgbClr val="16005F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5935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07</a:t>
            </a:r>
            <a:endParaRPr lang="en-US" sz="1000" dirty="0"/>
          </a:p>
        </p:txBody>
      </p:sp>
      <p:sp>
        <p:nvSpPr>
          <p:cNvPr id="17" name="TCE assumption note 17"/>
          <p:cNvSpPr txBox="1"/>
          <p:nvPr/>
        </p:nvSpPr>
        <p:spPr>
          <a:xfrm>
            <a:off x="777240" y="6099048"/>
            <a:ext cx="9464040" cy="438912"/>
          </a:xfrm>
          <a:prstGeom prst="roundRect">
            <a:avLst/>
          </a:prstGeom>
          <a:solidFill>
            <a:srgbClr val="E9ECFF"/>
          </a:solidFill>
          <a:ln w="12700">
            <a:solidFill>
              <a:srgbClr val="1B0AAE"/>
            </a:solidFill>
          </a:ln>
        </p:spPr>
        <p:txBody>
          <a:bodyPr wrap="square" lIns="91440" tIns="54864" rIns="91440" bIns="54864"/>
          <a:lstStyle/>
          <a:p>
            <a:r>
              <a:rPr lang="th-TH" sz="1050">
                <a:solidFill>
                  <a:srgbClr val="16005F"/>
                </a:solidFill>
              </a:rPr>
              <a:t>Low Priority: Meta Mall เริ่มใช้เรท EV Charging Station Low Priority ตั้งแต่ ก.ค. 2569 ตามแผนประสานงานกับการไฟฟ้า</a:t>
            </a:r>
            <a:endParaRPr lang="th-TH" sz="1050"/>
          </a:p>
        </p:txBody>
      </p:sp>
      <p:pic>
        <p:nvPicPr>
          <p:cNvPr id="18" name="TCE logo"/>
          <p:cNvPicPr/>
          <p:nvPr/>
        </p:nvPicPr>
        <p:blipFill>
          <a:blip r:embed="rId5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0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5120640" cy="5120640"/>
          </a:xfrm>
          <a:prstGeom prst="ellipse">
            <a:avLst/>
          </a:prstGeom>
          <a:solidFill>
            <a:srgbClr val="12007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3093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11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06 · TEAM PERFORMANCE INCENTIVE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89888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แนวคิดและค่ามาตรฐานอ้างอิง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74904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1945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~15%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ของเงินเดือน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ค่ามาตรฐานสัดส่วน variable pay สำหรับงานสาย Operations (โบนัสผันแปร 15% / ฐาน 85%)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603504" cy="603504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9933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9222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จ่ายเฉพาะเมื่อทำ ‘เกินแผน’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532120" y="2157984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incentive มาจากรายได้ส่วนที่เกินเป้า → ปกป้องระยะเวลาคืนทุน 100%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2889504"/>
            <a:ext cx="603504" cy="603504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0540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285292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 Quality Gate + Soft Gate ช่วงเริ่มต้น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32120" y="3218688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ปลดล็อกเมื่อ uptime ≥ 97% และไม่มีข้อร้องเรียนค้าง; ช่วงทดสอบแยกเหตุจาก provider/update ออกก่อน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950208"/>
            <a:ext cx="603504" cy="603504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1148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91363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มีเพดานต่อคน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5532120" y="4279392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กันการทบกันเมื่อทีมดูแลหลายสถานี (เพดาน ~15–20% </a:t>
            </a:r>
            <a:r>
              <a:rPr lang="en-US" sz="1200" dirty="0" err="1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ของเงินเดือน</a:t>
            </a: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54880" y="5010912"/>
            <a:ext cx="603504" cy="603504"/>
          </a:xfrm>
          <a:prstGeom prst="ellipse">
            <a:avLst/>
          </a:prstGeom>
          <a:solidFill>
            <a:srgbClr val="1B0AAE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517550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32120" y="497433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แบ่งตามน้ำหนักงาน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5532120" y="5340096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สัดส่วนตามความรับผิดชอบและส่วนร่วมจริงของแต่ละฟังก์ชัน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CE assumption note 28"/>
          <p:cNvSpPr txBox="1"/>
          <p:nvPr/>
        </p:nvSpPr>
        <p:spPr>
          <a:xfrm>
            <a:off x="786384" y="6144768"/>
            <a:ext cx="9144000" cy="530352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45113"/>
            </a:solidFill>
          </a:ln>
        </p:spPr>
        <p:txBody>
          <a:bodyPr wrap="square" lIns="91440" tIns="54864" rIns="91440" bIns="54864"/>
          <a:lstStyle/>
          <a:p>
            <a:r>
              <a:rPr lang="th-TH" sz="1050">
                <a:solidFill>
                  <a:srgbClr val="16005F"/>
                </a:solidFill>
              </a:rPr>
              <a:t>ช่วง 1-3 เดือนแรกเป็น stabilization period: ใช้ soft gate เพื่อแยก downtime จาก commissioning / OneCharge update / provider issue</a:t>
            </a:r>
            <a:endParaRPr lang="th-TH" sz="1050"/>
          </a:p>
        </p:txBody>
      </p:sp>
      <p:pic>
        <p:nvPicPr>
          <p:cNvPr id="29" name="TCE logo"/>
          <p:cNvPicPr/>
          <p:nvPr/>
        </p:nvPicPr>
        <p:blipFill>
          <a:blip r:embed="rId8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07 · กลไกการจ่าย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ส่วนแบ่งขั้นบันได ที่ไม่กระทบการคืนทุน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31520" y="4160520"/>
            <a:ext cx="1783080" cy="914400"/>
          </a:xfrm>
          <a:prstGeom prst="rect">
            <a:avLst/>
          </a:prstGeom>
          <a:solidFill>
            <a:srgbClr val="DDE1F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703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51663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ตามแผน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(Most Likely)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24328" y="3383280"/>
            <a:ext cx="1783080" cy="1691640"/>
          </a:xfrm>
          <a:prstGeom prst="rect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24328" y="2926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+3%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578608" y="51663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เกินแผน → Best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17136" y="2606040"/>
            <a:ext cx="1783080" cy="2468880"/>
          </a:xfrm>
          <a:prstGeom prst="rect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17136" y="2148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+5%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71416" y="51663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เกิน Best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" y="5074920"/>
            <a:ext cx="58064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852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รายได้ของสถานี →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1417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จ่าย % ของ ‘ส่วนที่เกินแผน’ เท่านั้น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1463040"/>
            <a:ext cx="4617720" cy="2057400"/>
          </a:xfrm>
          <a:prstGeom prst="roundRect">
            <a:avLst>
              <a:gd name="adj" fmla="val 4000"/>
            </a:avLst>
          </a:prstGeom>
          <a:solidFill>
            <a:srgbClr val="16005F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42048" y="1783080"/>
            <a:ext cx="603504" cy="603504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94767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01000" y="17556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ผลกระทบต่อการคืนทุนและช่วงทดสอบ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955280" y="212140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4511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</a:t>
            </a: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 เดือน</a:t>
            </a:r>
            <a:endParaRPr lang="en-US" sz="4600" dirty="0"/>
          </a:p>
        </p:txBody>
      </p:sp>
      <p:sp>
        <p:nvSpPr>
          <p:cNvPr id="23" name="Text 19"/>
          <p:cNvSpPr/>
          <p:nvPr/>
        </p:nvSpPr>
        <p:spPr>
          <a:xfrm>
            <a:off x="7315200" y="29077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เมื่อทำได้ตามแผน incentive = 0 → payback ≈ 2.6 ปี คงเดิม ไม่ขยับ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949440" y="3749040"/>
            <a:ext cx="548640" cy="548640"/>
          </a:xfrm>
          <a:prstGeom prst="ellipse">
            <a:avLst/>
          </a:prstGeom>
          <a:solidFill>
            <a:srgbClr val="E9ECFF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389534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62672" y="37124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เกินแผนเมื่อไหร่ ทีมจึงได้ส่วนแบ่ง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662672" y="404164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เงินสดที่เข้าเพิ่มมากกว่า incentive ที่จ่ายเสมอ → คืนทุนเร็วกว่าหรือเท่าแผน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949440" y="4773168"/>
            <a:ext cx="548640" cy="548640"/>
          </a:xfrm>
          <a:prstGeom prst="ellipse">
            <a:avLst/>
          </a:prstGeom>
          <a:solidFill>
            <a:srgbClr val="E9ECFF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491947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62672" y="4736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ต่อสถานีจ่ายบางมาก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662672" y="506577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ที่ระดับ Best จ่ายเพียง ~1% ของรายได้ / ~2% ของกำไรดำเนินงานต่อสถานี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CE assumption note 33"/>
          <p:cNvSpPr txBox="1"/>
          <p:nvPr/>
        </p:nvSpPr>
        <p:spPr>
          <a:xfrm>
            <a:off x="841248" y="5901495"/>
            <a:ext cx="9326880" cy="530352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45113"/>
            </a:solidFill>
          </a:ln>
        </p:spPr>
        <p:txBody>
          <a:bodyPr wrap="square" lIns="91440" tIns="54864" rIns="91440" bIns="54864"/>
          <a:lstStyle/>
          <a:p>
            <a:r>
              <a:rPr lang="th-TH" sz="980">
                <a:solidFill>
                  <a:srgbClr val="16005F"/>
                </a:solidFill>
              </a:rPr>
              <a:t>Quality gate นับเฉพาะ downtime ที่ทีมควบคุมได้; downtime จาก OneCharge platform down/update หรือ commissioning ให้แยกบันทึกเป็นข้อยกเว้น</a:t>
            </a:r>
            <a:endParaRPr lang="th-TH" sz="980"/>
          </a:p>
        </p:txBody>
      </p:sp>
      <p:pic>
        <p:nvPicPr>
          <p:cNvPr id="34" name="TCE 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ellipse">
            <a:avLst/>
          </a:prstGeom>
          <a:solidFill>
            <a:srgbClr val="1B0AAE"/>
          </a:solidFill>
          <a:ln/>
          <a:effectLst>
            <a:outerShdw blurRad="114300" dist="38100" dir="8100000" algn="bl" rotWithShape="0">
              <a:srgbClr val="16005F">
                <a:alpha val="12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08 · การแบ่งสัดส่วน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89888" y="6766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แบ่ง Incentive ตามน้ำหนักส่วนร่วมในงาน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91640"/>
          <a:ext cx="4754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33172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ตามเฟส 2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33172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น้ำหนัก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943600" y="1920240"/>
            <a:ext cx="5486400" cy="841248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0" y="1920240"/>
            <a:ext cx="109728" cy="841248"/>
          </a:xfrm>
          <a:prstGeom prst="rect">
            <a:avLst/>
          </a:prstGeom>
          <a:solidFill>
            <a:srgbClr val="1B0AAE"/>
          </a:solidFill>
          <a:ln/>
        </p:spPr>
      </p:sp>
      <p:sp>
        <p:nvSpPr>
          <p:cNvPr id="11" name="Shape 7"/>
          <p:cNvSpPr/>
          <p:nvPr/>
        </p:nvSpPr>
        <p:spPr>
          <a:xfrm>
            <a:off x="6236208" y="2157984"/>
            <a:ext cx="365760" cy="365760"/>
          </a:xfrm>
          <a:prstGeom prst="ellipse">
            <a:avLst/>
          </a:prstGeom>
          <a:solidFill>
            <a:srgbClr val="1B0AAE"/>
          </a:solidFill>
          <a:ln/>
        </p:spPr>
      </p:sp>
      <p:sp>
        <p:nvSpPr>
          <p:cNvPr id="12" name="Text 8"/>
          <p:cNvSpPr/>
          <p:nvPr/>
        </p:nvSpPr>
        <p:spPr>
          <a:xfrm>
            <a:off x="6766560" y="2029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Station Manager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6656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รับผิดชอบผลงานรวมและการตัดสินใจ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0848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B0AA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35%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943600" y="2871216"/>
            <a:ext cx="5486400" cy="841248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0" y="2871216"/>
            <a:ext cx="109728" cy="841248"/>
          </a:xfrm>
          <a:prstGeom prst="rect">
            <a:avLst/>
          </a:prstGeom>
          <a:solidFill>
            <a:srgbClr val="F45113"/>
          </a:solidFill>
          <a:ln/>
        </p:spPr>
      </p:sp>
      <p:sp>
        <p:nvSpPr>
          <p:cNvPr id="17" name="Shape 13"/>
          <p:cNvSpPr/>
          <p:nvPr/>
        </p:nvSpPr>
        <p:spPr>
          <a:xfrm>
            <a:off x="6236208" y="3108960"/>
            <a:ext cx="365760" cy="365760"/>
          </a:xfrm>
          <a:prstGeom prst="ellipse">
            <a:avLst/>
          </a:prstGeom>
          <a:solidFill>
            <a:srgbClr val="F45113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29809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Technical Support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766560" y="33284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อัปไทม์คือหัวใจของรายได้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358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4511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25%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943600" y="3822192"/>
            <a:ext cx="5486400" cy="841248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0" y="3822192"/>
            <a:ext cx="109728" cy="841248"/>
          </a:xfrm>
          <a:prstGeom prst="rect">
            <a:avLst/>
          </a:prstGeom>
          <a:solidFill>
            <a:srgbClr val="120078"/>
          </a:solidFill>
          <a:ln/>
        </p:spPr>
      </p:sp>
      <p:sp>
        <p:nvSpPr>
          <p:cNvPr id="23" name="Shape 19"/>
          <p:cNvSpPr/>
          <p:nvPr/>
        </p:nvSpPr>
        <p:spPr>
          <a:xfrm>
            <a:off x="6236208" y="4059936"/>
            <a:ext cx="365760" cy="365760"/>
          </a:xfrm>
          <a:prstGeom prst="ellipse">
            <a:avLst/>
          </a:prstGeom>
          <a:solidFill>
            <a:srgbClr val="120078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766560" y="4279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ตัวขับ utilization เหนือ baseline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0241280" y="398678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2007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25%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5943600" y="4773168"/>
            <a:ext cx="5486400" cy="841248"/>
          </a:xfrm>
          <a:prstGeom prst="rect">
            <a:avLst/>
          </a:prstGeom>
          <a:solidFill>
            <a:srgbClr val="F7F8FC"/>
          </a:solidFill>
          <a:ln w="12700">
            <a:solidFill>
              <a:srgbClr val="DDE1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43600" y="4773168"/>
            <a:ext cx="109728" cy="841248"/>
          </a:xfrm>
          <a:prstGeom prst="rect">
            <a:avLst/>
          </a:prstGeom>
          <a:solidFill>
            <a:srgbClr val="A4A8B8"/>
          </a:solidFill>
          <a:ln/>
        </p:spPr>
      </p:sp>
      <p:sp>
        <p:nvSpPr>
          <p:cNvPr id="29" name="Shape 25"/>
          <p:cNvSpPr/>
          <p:nvPr/>
        </p:nvSpPr>
        <p:spPr>
          <a:xfrm>
            <a:off x="6236208" y="5010912"/>
            <a:ext cx="365760" cy="365760"/>
          </a:xfrm>
          <a:prstGeom prst="ellipse">
            <a:avLst/>
          </a:prstGeom>
          <a:solidFill>
            <a:srgbClr val="A4A8B8"/>
          </a:solidFill>
          <a:ln/>
        </p:spPr>
      </p:sp>
      <p:sp>
        <p:nvSpPr>
          <p:cNvPr id="30" name="Text 26"/>
          <p:cNvSpPr/>
          <p:nvPr/>
        </p:nvSpPr>
        <p:spPr>
          <a:xfrm>
            <a:off x="6766560" y="48828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005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Accounting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766560" y="5230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6506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สนับสนุน กระทบยอด และรายงาน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241280" y="4937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A4A8B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15%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5943600" y="57698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เฟส 1: ก้อนของ Station Manager + Technical (60%) แบ่งตามจำนวนวันที่ engineer ประจำจริง ผ่านระบบ Human Soft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000" dirty="0"/>
          </a:p>
        </p:txBody>
      </p:sp>
      <p:pic>
        <p:nvPicPr>
          <p:cNvPr id="35" name="TCE logo"/>
          <p:cNvPicPr/>
          <p:nvPr/>
        </p:nvPicPr>
        <p:blipFill>
          <a:blip r:embed="rId5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00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12007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สรุปและขั้นตอนถัดไป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5113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ASK · สิ่งที่ขออนุมัติจากผู้บริหาร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603504" cy="603504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อนุมัติโครงสร้างทีม Operation ต่อสถานี (4 ฟังก์ชัน) และแนวทาง Phasing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761488"/>
            <a:ext cx="603504" cy="603504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926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61488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อนุมัติกรอบ Performance Incentive </a:t>
            </a:r>
            <a:r>
              <a:rPr lang="th-TH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แคป</a:t>
            </a:r>
            <a:r>
              <a:rPr lang="en-US" sz="1500" dirty="0" err="1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ที่</a:t>
            </a: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~15% ของเงินเดือน โดยจ่ายจากรายได้ส่วนเกินแผน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602736"/>
            <a:ext cx="603504" cy="603504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7673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602736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 Quality Gate และเพดานต่อคน เพื่อคุมต้นทุนและการคืนทุน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4443984"/>
            <a:ext cx="603504" cy="603504"/>
          </a:xfrm>
          <a:prstGeom prst="ellipse">
            <a:avLst/>
          </a:prstGeom>
          <a:solidFill>
            <a:srgbClr val="F4511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60857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443984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อนุมัติการแบ่งสัดส่วนตามน้ำหนักงาน (SM 35 / Tech 25 / Mkt 25 / Acct 15)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5440680"/>
            <a:ext cx="10972800" cy="868680"/>
          </a:xfrm>
          <a:prstGeom prst="roundRect">
            <a:avLst>
              <a:gd name="adj" fmla="val 10526"/>
            </a:avLst>
          </a:prstGeom>
          <a:solidFill>
            <a:srgbClr val="1B0AAE"/>
          </a:solidFill>
          <a:ln/>
        </p:spPr>
      </p:sp>
      <p:sp>
        <p:nvSpPr>
          <p:cNvPr id="18" name="Text 12"/>
          <p:cNvSpPr/>
          <p:nvPr/>
        </p:nvSpPr>
        <p:spPr>
          <a:xfrm>
            <a:off x="1005840" y="544068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ขั้นตอนถัดไป: ยืนยันจำนวน engineer หมุนเวร + เงินเดือนจริง → ล็อก Low Priority ก.ค. 2569 และ soft gate ช่วงทดสอบ → นำร่องที่ Meta Mall → ทบทวน baseline ทุกปี</a:t>
            </a:r>
            <a:endParaRPr lang="en-US" sz="1250" dirty="0"/>
          </a:p>
        </p:txBody>
      </p:sp>
      <p:pic>
        <p:nvPicPr>
          <p:cNvPr id="19" name="TCE 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02920" y="256032"/>
            <a:ext cx="2743200" cy="256032"/>
          </a:xfrm>
          <a:ln>
            <a:noFill/>
          </a:ln>
        </p:spPr>
        <p:txBody>
          <a:bodyPr wrap="square" lIns="60960" tIns="45720" rIns="60960" bIns="45720"/>
          <a:lstStyle/>
          <a:p>
            <a:r>
              <a:rPr lang="th-TH" sz="850" b="1">
                <a:solidFill>
                  <a:srgbClr val="F45113"/>
                </a:solidFill>
              </a:rPr>
              <a:t>09 · ตัวอย่างการคำนวณ</a:t>
            </a:r>
            <a:endParaRPr lang="th-TH" sz="850"/>
          </a:p>
        </p:txBody>
      </p:sp>
      <p:sp>
        <p:nvSpPr>
          <p:cNvPr id="3" name="Text"/>
          <p:cNvSpPr txBox="1"/>
          <p:nvPr/>
        </p:nvSpPr>
        <p:spPr>
          <a:xfrm>
            <a:off x="502920" y="530352"/>
            <a:ext cx="8869680" cy="457200"/>
          </a:xfrm>
          <a:ln>
            <a:noFill/>
          </a:ln>
        </p:spPr>
        <p:txBody>
          <a:bodyPr wrap="square" lIns="60960" tIns="45720" rIns="60960" bIns="45720"/>
          <a:lstStyle/>
          <a:p>
            <a:r>
              <a:rPr lang="th-TH" sz="1900" b="1">
                <a:solidFill>
                  <a:srgbClr val="16005F"/>
                </a:solidFill>
              </a:rPr>
              <a:t>เมื่อรายได้เกินเป้า ทีมได้ส่วนแบ่ง แต่ payback ยังเร็วกว่าแผน</a:t>
            </a:r>
            <a:endParaRPr lang="th-TH" sz="1900"/>
          </a:p>
        </p:txBody>
      </p:sp>
      <p:sp>
        <p:nvSpPr>
          <p:cNvPr id="4" name="Text"/>
          <p:cNvSpPr txBox="1"/>
          <p:nvPr/>
        </p:nvSpPr>
        <p:spPr>
          <a:xfrm>
            <a:off x="521207" y="1024128"/>
            <a:ext cx="9509760" cy="329184"/>
          </a:xfrm>
          <a:ln>
            <a:noFill/>
          </a:ln>
        </p:spPr>
        <p:txBody>
          <a:bodyPr wrap="square" lIns="60960" tIns="45720" rIns="60960" bIns="45720"/>
          <a:lstStyle/>
          <a:p>
            <a:r>
              <a:rPr lang="th-TH" sz="780">
                <a:solidFill>
                  <a:srgbClr val="46506A"/>
                </a:solidFill>
              </a:rPr>
              <a:t>Baseline Most Likely = 519,030 บาท/เดือน | Best = 778,545 บาท/เดือน | สูตร: 3% ของส่วนเกิน baseline ถึง Best และ 5% ของส่วนที่เกิน Best</a:t>
            </a:r>
            <a:endParaRPr lang="th-TH" sz="780"/>
          </a:p>
        </p:txBody>
      </p:sp>
      <p:pic>
        <p:nvPicPr>
          <p:cNvPr id="5" name="TCE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241280" y="201168"/>
            <a:ext cx="1234440" cy="804672"/>
          </a:xfrm>
          <a:prstGeom prst="rect">
            <a:avLst/>
          </a:prstGeom>
        </p:spPr>
      </p:pic>
      <p:sp>
        <p:nvSpPr>
          <p:cNvPr id="6" name="กรณี A: เกินเป้าไม่มาก"/>
          <p:cNvSpPr txBox="1"/>
          <p:nvPr/>
        </p:nvSpPr>
        <p:spPr>
          <a:xfrm>
            <a:off x="566928" y="1554480"/>
            <a:ext cx="5349240" cy="347472"/>
          </a:xfrm>
          <a:prstGeom prst="roundRect">
            <a:avLst/>
          </a:prstGeom>
          <a:solidFill>
            <a:srgbClr val="1B0AAE"/>
          </a:solidFill>
          <a:ln w="12700">
            <a:solidFill>
              <a:srgbClr val="1B0AAE"/>
            </a:solidFill>
          </a:ln>
        </p:spPr>
        <p:txBody>
          <a:bodyPr wrap="square" lIns="60960" tIns="45720" rIns="60960" bIns="45720"/>
          <a:lstStyle/>
          <a:p>
            <a:r>
              <a:rPr lang="th-TH" sz="1450" b="1">
                <a:solidFill>
                  <a:srgbClr val="FFFFFF"/>
                </a:solidFill>
              </a:rPr>
              <a:t>กรณี A: เกินเป้าไม่มาก</a:t>
            </a:r>
            <a:endParaRPr lang="th-TH" sz="1450"/>
          </a:p>
        </p:txBody>
      </p:sp>
      <p:sp>
        <p:nvSpPr>
          <p:cNvPr id="7" name="Text"/>
          <p:cNvSpPr txBox="1"/>
          <p:nvPr/>
        </p:nvSpPr>
        <p:spPr>
          <a:xfrm>
            <a:off x="566928" y="1965960"/>
            <a:ext cx="5349240" cy="3108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DE1F0"/>
            </a:solidFill>
          </a:ln>
        </p:spPr>
        <p:txBody>
          <a:bodyPr wrap="square" lIns="60960" tIns="45720" rIns="60960" bIns="45720"/>
          <a:lstStyle/>
          <a:p>
            <a:r>
              <a:rPr lang="th-TH" sz="1400" dirty="0">
                <a:solidFill>
                  <a:srgbClr val="46506A"/>
                </a:solidFill>
              </a:rPr>
              <a:t>รายได้ 550,000 บาท/เดือน  |  เกิน </a:t>
            </a:r>
            <a:r>
              <a:rPr lang="th-TH" sz="1400" dirty="0" err="1">
                <a:solidFill>
                  <a:srgbClr val="46506A"/>
                </a:solidFill>
              </a:rPr>
              <a:t>baseline</a:t>
            </a:r>
            <a:r>
              <a:rPr lang="th-TH" sz="1400" dirty="0">
                <a:solidFill>
                  <a:srgbClr val="46506A"/>
                </a:solidFill>
              </a:rPr>
              <a:t> 30,970 บาท</a:t>
            </a:r>
            <a:endParaRPr lang="th-TH" sz="1400" dirty="0"/>
          </a:p>
        </p:txBody>
      </p:sp>
      <p:sp>
        <p:nvSpPr>
          <p:cNvPr id="8" name="Text"/>
          <p:cNvSpPr txBox="1"/>
          <p:nvPr/>
        </p:nvSpPr>
        <p:spPr>
          <a:xfrm>
            <a:off x="566928" y="2340864"/>
            <a:ext cx="5349240" cy="8686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45113"/>
            </a:solidFill>
          </a:ln>
        </p:spPr>
        <p:txBody>
          <a:bodyPr wrap="square" lIns="60960" tIns="45720" rIns="60960" bIns="45720"/>
          <a:lstStyle/>
          <a:p>
            <a:r>
              <a:rPr lang="th-TH" sz="1400" dirty="0" err="1">
                <a:solidFill>
                  <a:srgbClr val="16005F"/>
                </a:solidFill>
              </a:rPr>
              <a:t>Team</a:t>
            </a:r>
            <a:r>
              <a:rPr lang="th-TH" sz="1400" dirty="0">
                <a:solidFill>
                  <a:srgbClr val="16005F"/>
                </a:solidFill>
              </a:rPr>
              <a:t> </a:t>
            </a:r>
            <a:r>
              <a:rPr lang="th-TH" sz="1400" dirty="0" err="1">
                <a:solidFill>
                  <a:srgbClr val="16005F"/>
                </a:solidFill>
              </a:rPr>
              <a:t>pool</a:t>
            </a:r>
            <a:r>
              <a:rPr lang="th-TH" sz="1400" dirty="0">
                <a:solidFill>
                  <a:srgbClr val="16005F"/>
                </a:solidFill>
              </a:rPr>
              <a:t>: 929 บาท/เดือน</a:t>
            </a:r>
            <a:endParaRPr lang="th-TH" sz="1400" dirty="0"/>
          </a:p>
          <a:p>
            <a:r>
              <a:rPr lang="th-TH" sz="1400" dirty="0">
                <a:solidFill>
                  <a:srgbClr val="16005F"/>
                </a:solidFill>
              </a:rPr>
              <a:t>คิดเป็น 6.3% ของกำไรดำเนินงานส่วนเพิ่ม</a:t>
            </a:r>
            <a:endParaRPr lang="th-TH" sz="1400" dirty="0"/>
          </a:p>
          <a:p>
            <a:r>
              <a:rPr lang="th-TH" sz="1400" dirty="0">
                <a:solidFill>
                  <a:srgbClr val="16005F"/>
                </a:solidFill>
              </a:rPr>
              <a:t>กำไรส่วนเพิ่มหลังแบ่งทีม: 13,927 บาท/เดือน</a:t>
            </a:r>
            <a:endParaRPr lang="th-TH" sz="1400" dirty="0"/>
          </a:p>
        </p:txBody>
      </p:sp>
      <p:sp>
        <p:nvSpPr>
          <p:cNvPr id="9" name="Text"/>
          <p:cNvSpPr txBox="1"/>
          <p:nvPr/>
        </p:nvSpPr>
        <p:spPr>
          <a:xfrm>
            <a:off x="566928" y="3310128"/>
            <a:ext cx="5349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F0"/>
            </a:solidFill>
          </a:ln>
        </p:spPr>
        <p:txBody>
          <a:bodyPr wrap="square" lIns="60960" tIns="45720" rIns="60960" bIns="45720"/>
          <a:lstStyle/>
          <a:p>
            <a:r>
              <a:rPr lang="th-TH" sz="1400" dirty="0">
                <a:solidFill>
                  <a:srgbClr val="16005F"/>
                </a:solidFill>
              </a:rPr>
              <a:t>แบ่งต่อคน/บทบาท (บาท/เดือน)</a:t>
            </a:r>
            <a:endParaRPr lang="th-TH" sz="1400" dirty="0"/>
          </a:p>
          <a:p>
            <a:r>
              <a:rPr lang="th-TH" sz="1400" dirty="0">
                <a:solidFill>
                  <a:srgbClr val="16005F"/>
                </a:solidFill>
              </a:rPr>
              <a:t>SM 35%: 325  |  Tech 25%: 232  |  </a:t>
            </a:r>
            <a:r>
              <a:rPr lang="th-TH" sz="1400" dirty="0" err="1">
                <a:solidFill>
                  <a:srgbClr val="16005F"/>
                </a:solidFill>
              </a:rPr>
              <a:t>Mkt</a:t>
            </a:r>
            <a:r>
              <a:rPr lang="th-TH" sz="1400" dirty="0">
                <a:solidFill>
                  <a:srgbClr val="16005F"/>
                </a:solidFill>
              </a:rPr>
              <a:t> 25%: 232  |  </a:t>
            </a:r>
            <a:r>
              <a:rPr lang="th-TH" sz="1400" dirty="0" err="1">
                <a:solidFill>
                  <a:srgbClr val="16005F"/>
                </a:solidFill>
              </a:rPr>
              <a:t>Acct</a:t>
            </a:r>
            <a:r>
              <a:rPr lang="th-TH" sz="1400" dirty="0">
                <a:solidFill>
                  <a:srgbClr val="16005F"/>
                </a:solidFill>
              </a:rPr>
              <a:t> 15%: 139</a:t>
            </a:r>
            <a:endParaRPr lang="th-TH" sz="1400" dirty="0"/>
          </a:p>
          <a:p>
            <a:r>
              <a:rPr lang="th-TH" sz="1400" dirty="0" err="1">
                <a:solidFill>
                  <a:srgbClr val="16005F"/>
                </a:solidFill>
              </a:rPr>
              <a:t>Phase</a:t>
            </a:r>
            <a:r>
              <a:rPr lang="th-TH" sz="1400" dirty="0">
                <a:solidFill>
                  <a:srgbClr val="16005F"/>
                </a:solidFill>
              </a:rPr>
              <a:t> 1: ก้อน </a:t>
            </a:r>
            <a:r>
              <a:rPr lang="th-TH" sz="1400" dirty="0" err="1">
                <a:solidFill>
                  <a:srgbClr val="16005F"/>
                </a:solidFill>
              </a:rPr>
              <a:t>engineer</a:t>
            </a:r>
            <a:r>
              <a:rPr lang="th-TH" sz="1400" dirty="0">
                <a:solidFill>
                  <a:srgbClr val="16005F"/>
                </a:solidFill>
              </a:rPr>
              <a:t> 60% = 557 บาท/เดือน แบ่งตามวันประจำจริง</a:t>
            </a:r>
            <a:endParaRPr lang="th-TH" sz="1400" dirty="0"/>
          </a:p>
        </p:txBody>
      </p:sp>
      <p:sp>
        <p:nvSpPr>
          <p:cNvPr id="10" name="Text"/>
          <p:cNvSpPr txBox="1"/>
          <p:nvPr/>
        </p:nvSpPr>
        <p:spPr>
          <a:xfrm>
            <a:off x="566928" y="4370832"/>
            <a:ext cx="5349240" cy="841248"/>
          </a:xfrm>
          <a:prstGeom prst="roundRect">
            <a:avLst/>
          </a:prstGeom>
          <a:solidFill>
            <a:srgbClr val="E9ECFF"/>
          </a:solidFill>
          <a:ln w="12700">
            <a:solidFill>
              <a:srgbClr val="1B0AAE"/>
            </a:solidFill>
          </a:ln>
        </p:spPr>
        <p:txBody>
          <a:bodyPr wrap="square" lIns="60960" tIns="45720" rIns="60960" bIns="45720"/>
          <a:lstStyle/>
          <a:p>
            <a:r>
              <a:rPr lang="th-TH" sz="1400">
                <a:solidFill>
                  <a:srgbClr val="16005F"/>
                </a:solidFill>
              </a:rPr>
              <a:t>Payback หลังแบ่งทีม: 2.48 ปี</a:t>
            </a:r>
            <a:endParaRPr lang="th-TH" sz="1400"/>
          </a:p>
          <a:p>
            <a:r>
              <a:rPr lang="th-TH" sz="1400">
                <a:solidFill>
                  <a:srgbClr val="16005F"/>
                </a:solidFill>
              </a:rPr>
              <a:t>ช้าลงจากกรณีไม่แบ่งทีมเพียง +0.1 เดือน</a:t>
            </a:r>
            <a:endParaRPr lang="th-TH" sz="1400"/>
          </a:p>
          <a:p>
            <a:r>
              <a:rPr lang="th-TH" sz="1400">
                <a:solidFill>
                  <a:srgbClr val="16005F"/>
                </a:solidFill>
              </a:rPr>
              <a:t>แต่ยังเร็วกว่า base plan ประมาณ 1.5 เดือน</a:t>
            </a:r>
            <a:endParaRPr lang="th-TH" sz="1400"/>
          </a:p>
        </p:txBody>
      </p:sp>
      <p:sp>
        <p:nvSpPr>
          <p:cNvPr id="11" name="กรณี B: เกินเป้ามาก"/>
          <p:cNvSpPr txBox="1"/>
          <p:nvPr/>
        </p:nvSpPr>
        <p:spPr>
          <a:xfrm>
            <a:off x="6236208" y="1554480"/>
            <a:ext cx="5349240" cy="347472"/>
          </a:xfrm>
          <a:prstGeom prst="roundRect">
            <a:avLst/>
          </a:prstGeom>
          <a:solidFill>
            <a:srgbClr val="1B0AAE"/>
          </a:solidFill>
          <a:ln w="12700">
            <a:solidFill>
              <a:srgbClr val="1B0AAE"/>
            </a:solidFill>
          </a:ln>
        </p:spPr>
        <p:txBody>
          <a:bodyPr wrap="square" lIns="60960" tIns="45720" rIns="60960" bIns="45720"/>
          <a:lstStyle/>
          <a:p>
            <a:r>
              <a:rPr lang="th-TH" sz="1450" b="1">
                <a:solidFill>
                  <a:srgbClr val="FFFFFF"/>
                </a:solidFill>
              </a:rPr>
              <a:t>กรณี B: เกินเป้ามาก</a:t>
            </a:r>
            <a:endParaRPr lang="th-TH" sz="1450"/>
          </a:p>
        </p:txBody>
      </p:sp>
      <p:sp>
        <p:nvSpPr>
          <p:cNvPr id="12" name="Text"/>
          <p:cNvSpPr txBox="1"/>
          <p:nvPr/>
        </p:nvSpPr>
        <p:spPr>
          <a:xfrm>
            <a:off x="6236208" y="1965960"/>
            <a:ext cx="5349240" cy="310896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DDE1F0"/>
            </a:solidFill>
          </a:ln>
        </p:spPr>
        <p:txBody>
          <a:bodyPr wrap="square" lIns="60960" tIns="45720" rIns="60960" bIns="45720"/>
          <a:lstStyle/>
          <a:p>
            <a:r>
              <a:rPr lang="th-TH" sz="1400">
                <a:solidFill>
                  <a:srgbClr val="46506A"/>
                </a:solidFill>
              </a:rPr>
              <a:t>รายได้ 850,000 บาท/เดือน  |  เกิน baseline 330,970 บาท</a:t>
            </a:r>
            <a:endParaRPr lang="th-TH" sz="1400"/>
          </a:p>
        </p:txBody>
      </p:sp>
      <p:sp>
        <p:nvSpPr>
          <p:cNvPr id="13" name="Text"/>
          <p:cNvSpPr txBox="1"/>
          <p:nvPr/>
        </p:nvSpPr>
        <p:spPr>
          <a:xfrm>
            <a:off x="6236208" y="2340864"/>
            <a:ext cx="5349240" cy="868680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F45113"/>
            </a:solidFill>
          </a:ln>
        </p:spPr>
        <p:txBody>
          <a:bodyPr wrap="square" lIns="60960" tIns="45720" rIns="60960" bIns="45720"/>
          <a:lstStyle/>
          <a:p>
            <a:r>
              <a:rPr lang="th-TH" sz="1400">
                <a:solidFill>
                  <a:srgbClr val="16005F"/>
                </a:solidFill>
              </a:rPr>
              <a:t>Team pool: 11,358 บาท/เดือน</a:t>
            </a:r>
            <a:endParaRPr lang="th-TH" sz="1400"/>
          </a:p>
          <a:p>
            <a:r>
              <a:rPr lang="th-TH" sz="1400">
                <a:solidFill>
                  <a:srgbClr val="16005F"/>
                </a:solidFill>
              </a:rPr>
              <a:t>คิดเป็น 7.2% ของกำไรดำเนินงานส่วนเพิ่ม</a:t>
            </a:r>
            <a:endParaRPr lang="th-TH" sz="1400"/>
          </a:p>
          <a:p>
            <a:r>
              <a:rPr lang="th-TH" sz="1400">
                <a:solidFill>
                  <a:srgbClr val="16005F"/>
                </a:solidFill>
              </a:rPr>
              <a:t>กำไรส่วนเพิ่มหลังแบ่งทีม: 147,403 บาท/เดือน</a:t>
            </a:r>
            <a:endParaRPr lang="th-TH" sz="1400"/>
          </a:p>
        </p:txBody>
      </p:sp>
      <p:sp>
        <p:nvSpPr>
          <p:cNvPr id="14" name="Text"/>
          <p:cNvSpPr txBox="1"/>
          <p:nvPr/>
        </p:nvSpPr>
        <p:spPr>
          <a:xfrm>
            <a:off x="6236208" y="3310128"/>
            <a:ext cx="534924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1F0"/>
            </a:solidFill>
          </a:ln>
        </p:spPr>
        <p:txBody>
          <a:bodyPr wrap="square" lIns="60960" tIns="45720" rIns="60960" bIns="45720"/>
          <a:lstStyle/>
          <a:p>
            <a:r>
              <a:rPr lang="th-TH" sz="1400" dirty="0">
                <a:solidFill>
                  <a:srgbClr val="16005F"/>
                </a:solidFill>
              </a:rPr>
              <a:t>แบ่งต่อคน/บทบาท (บาท/เดือน)</a:t>
            </a:r>
            <a:endParaRPr lang="th-TH" sz="1400" dirty="0"/>
          </a:p>
          <a:p>
            <a:r>
              <a:rPr lang="th-TH" sz="1400" dirty="0">
                <a:solidFill>
                  <a:srgbClr val="16005F"/>
                </a:solidFill>
              </a:rPr>
              <a:t>SM 35%: 3,975  |  Tech 25%: 2,840  |  </a:t>
            </a:r>
            <a:r>
              <a:rPr lang="th-TH" sz="1400" dirty="0" err="1">
                <a:solidFill>
                  <a:srgbClr val="16005F"/>
                </a:solidFill>
              </a:rPr>
              <a:t>Mkt</a:t>
            </a:r>
            <a:r>
              <a:rPr lang="th-TH" sz="1400" dirty="0">
                <a:solidFill>
                  <a:srgbClr val="16005F"/>
                </a:solidFill>
              </a:rPr>
              <a:t> 25%: 2,840  |  </a:t>
            </a:r>
            <a:r>
              <a:rPr lang="th-TH" sz="1400" dirty="0" err="1">
                <a:solidFill>
                  <a:srgbClr val="16005F"/>
                </a:solidFill>
              </a:rPr>
              <a:t>Acct</a:t>
            </a:r>
            <a:r>
              <a:rPr lang="th-TH" sz="1400" dirty="0">
                <a:solidFill>
                  <a:srgbClr val="16005F"/>
                </a:solidFill>
              </a:rPr>
              <a:t> 15%: 1,704</a:t>
            </a:r>
            <a:endParaRPr lang="th-TH" sz="1400" dirty="0"/>
          </a:p>
          <a:p>
            <a:r>
              <a:rPr lang="th-TH" sz="1400" dirty="0" err="1">
                <a:solidFill>
                  <a:srgbClr val="16005F"/>
                </a:solidFill>
              </a:rPr>
              <a:t>Phase</a:t>
            </a:r>
            <a:r>
              <a:rPr lang="th-TH" sz="1400" dirty="0">
                <a:solidFill>
                  <a:srgbClr val="16005F"/>
                </a:solidFill>
              </a:rPr>
              <a:t> 1: ก้อน </a:t>
            </a:r>
            <a:r>
              <a:rPr lang="th-TH" sz="1400" dirty="0" err="1">
                <a:solidFill>
                  <a:srgbClr val="16005F"/>
                </a:solidFill>
              </a:rPr>
              <a:t>engineer</a:t>
            </a:r>
            <a:r>
              <a:rPr lang="th-TH" sz="1400" dirty="0">
                <a:solidFill>
                  <a:srgbClr val="16005F"/>
                </a:solidFill>
              </a:rPr>
              <a:t> 60% = 6,815 บาท/เดือน แบ่งตามวันประจำจริง</a:t>
            </a:r>
            <a:endParaRPr lang="th-TH" sz="1400" dirty="0"/>
          </a:p>
        </p:txBody>
      </p:sp>
      <p:sp>
        <p:nvSpPr>
          <p:cNvPr id="15" name="Text"/>
          <p:cNvSpPr txBox="1"/>
          <p:nvPr/>
        </p:nvSpPr>
        <p:spPr>
          <a:xfrm>
            <a:off x="6236208" y="4370832"/>
            <a:ext cx="5349240" cy="841248"/>
          </a:xfrm>
          <a:prstGeom prst="roundRect">
            <a:avLst/>
          </a:prstGeom>
          <a:solidFill>
            <a:srgbClr val="E9ECFF"/>
          </a:solidFill>
          <a:ln w="12700">
            <a:solidFill>
              <a:srgbClr val="1B0AAE"/>
            </a:solidFill>
          </a:ln>
        </p:spPr>
        <p:txBody>
          <a:bodyPr wrap="square" lIns="60960" tIns="45720" rIns="60960" bIns="45720"/>
          <a:lstStyle/>
          <a:p>
            <a:r>
              <a:rPr lang="th-TH" sz="1400" dirty="0" err="1">
                <a:solidFill>
                  <a:srgbClr val="16005F"/>
                </a:solidFill>
              </a:rPr>
              <a:t>Payback</a:t>
            </a:r>
            <a:r>
              <a:rPr lang="th-TH" sz="1400" dirty="0">
                <a:solidFill>
                  <a:srgbClr val="16005F"/>
                </a:solidFill>
              </a:rPr>
              <a:t> หลังแบ่งทีม: 1.70 ปี</a:t>
            </a:r>
            <a:endParaRPr lang="th-TH" sz="1400" dirty="0"/>
          </a:p>
          <a:p>
            <a:r>
              <a:rPr lang="th-TH" sz="1400" dirty="0">
                <a:solidFill>
                  <a:srgbClr val="16005F"/>
                </a:solidFill>
              </a:rPr>
              <a:t>ช้าลงจากกรณีไม่แบ่งทีมเพียง +0.5 เดือน</a:t>
            </a:r>
            <a:endParaRPr lang="th-TH" sz="1400" dirty="0"/>
          </a:p>
          <a:p>
            <a:r>
              <a:rPr lang="th-TH" sz="1400" dirty="0">
                <a:solidFill>
                  <a:srgbClr val="16005F"/>
                </a:solidFill>
              </a:rPr>
              <a:t>แต่ยังเร็วกว่า </a:t>
            </a:r>
            <a:r>
              <a:rPr lang="th-TH" sz="1400" dirty="0" err="1">
                <a:solidFill>
                  <a:srgbClr val="16005F"/>
                </a:solidFill>
              </a:rPr>
              <a:t>base</a:t>
            </a:r>
            <a:r>
              <a:rPr lang="th-TH" sz="1400" dirty="0">
                <a:solidFill>
                  <a:srgbClr val="16005F"/>
                </a:solidFill>
              </a:rPr>
              <a:t> </a:t>
            </a:r>
            <a:r>
              <a:rPr lang="th-TH" sz="1400" dirty="0" err="1">
                <a:solidFill>
                  <a:srgbClr val="16005F"/>
                </a:solidFill>
              </a:rPr>
              <a:t>plan</a:t>
            </a:r>
            <a:r>
              <a:rPr lang="th-TH" sz="1400" dirty="0">
                <a:solidFill>
                  <a:srgbClr val="16005F"/>
                </a:solidFill>
              </a:rPr>
              <a:t> ประมาณ 10.8 เดือน</a:t>
            </a:r>
            <a:endParaRPr lang="th-TH" sz="1400" dirty="0"/>
          </a:p>
        </p:txBody>
      </p:sp>
      <p:sp>
        <p:nvSpPr>
          <p:cNvPr id="16" name="Text"/>
          <p:cNvSpPr txBox="1"/>
          <p:nvPr/>
        </p:nvSpPr>
        <p:spPr>
          <a:xfrm>
            <a:off x="566928" y="6327648"/>
            <a:ext cx="10287000" cy="274320"/>
          </a:xfrm>
          <a:ln>
            <a:noFill/>
          </a:ln>
        </p:spPr>
        <p:txBody>
          <a:bodyPr wrap="square" lIns="60960" tIns="45720" rIns="60960" bIns="45720"/>
          <a:lstStyle/>
          <a:p>
            <a:r>
              <a:rPr lang="th-TH" sz="650">
                <a:solidFill>
                  <a:srgbClr val="46506A"/>
                </a:solidFill>
              </a:rPr>
              <a:t>หมายเหตุ: payback impact คำนวณเฉพาะผลจาก incentive expense เทียบกับ scenario เดียวกันก่อนแบ่งทีม และใช้ tax shield 20%; ยังไม่รวมเงินเดือนฐานทีม operate</a:t>
            </a:r>
            <a:endParaRPr lang="th-TH" sz="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1514</Words>
  <Application>Microsoft Office PowerPoint</Application>
  <PresentationFormat>แบบจอกว้าง</PresentationFormat>
  <Paragraphs>195</Paragraphs>
  <Slides>12</Slides>
  <Notes>11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12</vt:i4>
      </vt:variant>
    </vt:vector>
  </HeadingPairs>
  <TitlesOfParts>
    <vt:vector size="16" baseType="lpstr">
      <vt:lpstr>Arial</vt:lpstr>
      <vt:lpstr>Kanit</vt:lpstr>
      <vt:lpstr>Sarabun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Station Operations &amp; Incentive</dc:title>
  <dc:subject>PptxGenJS Presentation</dc:subject>
  <dc:creator>TCE Project</dc:creator>
  <cp:lastModifiedBy>t. wanlop</cp:lastModifiedBy>
  <cp:revision>3</cp:revision>
  <dcterms:created xsi:type="dcterms:W3CDTF">2026-05-30T03:03:04Z</dcterms:created>
  <dcterms:modified xsi:type="dcterms:W3CDTF">2026-05-30T04:56:10Z</dcterms:modified>
</cp:coreProperties>
</file>